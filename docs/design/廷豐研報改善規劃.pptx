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554480"/>
            <a:ext cx="4206240" cy="4206240"/>
          </a:xfrm>
          <a:prstGeom prst="ellipse">
            <a:avLst/>
          </a:prstGeom>
          <a:solidFill>
            <a:srgbClr val="16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297680"/>
            <a:ext cx="3108960" cy="3108960"/>
          </a:xfrm>
          <a:prstGeom prst="ellipse">
            <a:avLst/>
          </a:prstGeom>
          <a:solidFill>
            <a:srgbClr val="122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未來規劃簡報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廷豐智能研報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問答與研報生成 — 改善計畫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四個波次 · 十一項里程碑</a:t>
            </a:r>
            <a:r>
              <a:rPr sz="1500" b="0" i="0">
                <a:solidFill>
                  <a:srgbClr val="6E86AD"/>
                </a:solidFill>
                <a:latin typeface="Microsoft JhengHei"/>
                <a:ea typeface="Microsoft JhengHei"/>
                <a:cs typeface="Microsoft JhengHei"/>
              </a:rPr>
              <a:t>      品質 · 體驗 · 商業化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背景與目標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為什麼要做這個計畫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86400" cy="1874519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現況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5074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已上線：研報語意檢索、帶引用的 RAG 問答、深度研報 PDF、對話歷史。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瓶頸：檢索一次到底、研報一次寫完、無事實查核、版型與體驗仍有距離。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00200"/>
            <a:ext cx="5376672" cy="1874519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 w="12700">
            <a:solidFill>
              <a:srgbClr val="D7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目標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12848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把問答與研報做到一流：更準、更深、更可信。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體驗向 Claude 靠攏，並支援機構級版型與雙語。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品質可量測、可防退步，並鋪路商業化。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7947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0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更準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檢索重排 + 多面向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37947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0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411480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更深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47548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大綱逐節生成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7947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0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411480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更可信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47548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數值事實查核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2832" y="379476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0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411480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更專業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47548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機構版型 + 雙語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貫穿全程：以評測基準線量測每一步增益，全程 fail-open、Markdown 為真相可回退。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Roadmap 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四個波次推進；卡片顏色代表工作線，非時間先後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3108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波次一 · 地基與速贏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1655064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77055" y="1655064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M0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共用地基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33871" y="1655064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61887" y="1655064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M1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評測基準線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18704" y="1655064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1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55064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M2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03536" y="1655064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5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31552" y="1655064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M3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問答 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79191"/>
            <a:ext cx="3108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波次二 · 智能問答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734056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5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7055" y="2734056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M4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範圍路由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33871" y="2734056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5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7" y="2734056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M5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Agentic 迴圈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58183"/>
            <a:ext cx="3108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波次三 · 研報深度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3813047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1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77055" y="3813047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M6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檢索增強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1" y="3813047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0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1887" y="3813047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M7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大綱逐節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8704" y="3813047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0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3813047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M8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忠實度查核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37175"/>
            <a:ext cx="3108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波次四 · 專業輸出 × 國際化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49039" y="4892039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C4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77055" y="4892039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M9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可選模板渲染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1" y="4892039"/>
            <a:ext cx="1938528" cy="841248"/>
          </a:xfrm>
          <a:prstGeom prst="roundRect">
            <a:avLst>
              <a:gd name="adj" fmla="val 14000"/>
            </a:avLst>
          </a:prstGeom>
          <a:solidFill>
            <a:srgbClr val="C4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61887" y="4892039"/>
            <a:ext cx="171907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M10  </a:t>
            </a:r>
            <a:r>
              <a:rPr sz="12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雙語 i18n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6199632"/>
            <a:ext cx="201168" cy="201168"/>
          </a:xfrm>
          <a:prstGeom prst="ellips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6089904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地基/量測</a:t>
            </a:r>
          </a:p>
        </p:txBody>
      </p:sp>
      <p:sp>
        <p:nvSpPr>
          <p:cNvPr id="32" name="Oval 31"/>
          <p:cNvSpPr/>
          <p:nvPr/>
        </p:nvSpPr>
        <p:spPr>
          <a:xfrm>
            <a:off x="2834640" y="6199632"/>
            <a:ext cx="201168" cy="201168"/>
          </a:xfrm>
          <a:prstGeom prst="ellipse">
            <a:avLst/>
          </a:prstGeom>
          <a:solidFill>
            <a:srgbClr val="1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27248" y="6089904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檢索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0" y="6199632"/>
            <a:ext cx="201168" cy="201168"/>
          </a:xfrm>
          <a:prstGeom prst="ellipse">
            <a:avLst/>
          </a:prstGeom>
          <a:solidFill>
            <a:srgbClr val="5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13248" y="6089904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問答體驗</a:t>
            </a:r>
          </a:p>
        </p:txBody>
      </p:sp>
      <p:sp>
        <p:nvSpPr>
          <p:cNvPr id="36" name="Oval 35"/>
          <p:cNvSpPr/>
          <p:nvPr/>
        </p:nvSpPr>
        <p:spPr>
          <a:xfrm>
            <a:off x="7406640" y="6199632"/>
            <a:ext cx="201168" cy="201168"/>
          </a:xfrm>
          <a:prstGeom prst="ellipse">
            <a:avLst/>
          </a:prstGeom>
          <a:solidFill>
            <a:srgbClr val="0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6089904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38" name="Oval 37"/>
          <p:cNvSpPr/>
          <p:nvPr/>
        </p:nvSpPr>
        <p:spPr>
          <a:xfrm>
            <a:off x="9692640" y="6199632"/>
            <a:ext cx="201168" cy="201168"/>
          </a:xfrm>
          <a:prstGeom prst="ellipse">
            <a:avLst/>
          </a:prstGeom>
          <a:solidFill>
            <a:srgbClr val="C4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85248" y="6089904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輸出/國際化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共用地基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波次一 · 地基與速贏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型別化檢索資料結構，抽出問答與研報共用的檢索管線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集中設定，拆解過長的問答主流程並補上測試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後續每一步都站在穩固、可測試的基礎上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降低改動風險與維護成本，消除潛在資料錯位 bug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M0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評測基準線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波次一 · 地基與速贏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建立固定評測題庫，採免黃金答案的 RAGAS 指標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量測目前問答與研報品質，訂出基準線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品質從「憑感覺」變「可量測」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每次改動都能證明進步、防止退步，對外可用數據佐證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M1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1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Rerank 精準度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5FA6"/>
                </a:solidFill>
                <a:latin typeface="Microsoft JhengHei"/>
                <a:ea typeface="Microsoft JhengHei"/>
                <a:cs typeface="Microsoft JhengHei"/>
              </a:rPr>
              <a:t>波次一 · 地基與速贏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檢索後加一層多語重排模型（與現有向量模型同家族）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把最相關的研報片段挑到最前面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 w="12700">
            <a:solidFill>
              <a:srgbClr val="E4EF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F5FA6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回答與研報引用更準、更少離題，忠實度顯著提升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同時惠及問答與研報，投報比最高的一步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M2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5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問答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4FC0"/>
                </a:solidFill>
                <a:latin typeface="Microsoft JhengHei"/>
                <a:ea typeface="Microsoft JhengHei"/>
                <a:cs typeface="Microsoft JhengHei"/>
              </a:rPr>
              <a:t>波次一 · 地基與速贏（可平行）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補上重新生成、停止、編輯重問、追問建議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處理步驟可展開，體驗接近 Claude / ChatGPT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EFEDFB"/>
          </a:solidFill>
          <a:ln w="12700">
            <a:solidFill>
              <a:srgbClr val="ECE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5B4FC0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使用者滿意度與留存提升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低風險、最快有感，可與後端開發平行推進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M3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5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範圍路由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4FC0"/>
                </a:solidFill>
                <a:latin typeface="Microsoft JhengHei"/>
                <a:ea typeface="Microsoft JhengHei"/>
                <a:cs typeface="Microsoft JhengHei"/>
              </a:rPr>
              <a:t>波次二 · 智能問答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把「離題就拒答」升級為三態分流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金融題廣納、枚舉題走快速統計、真正離題才婉拒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EFEDFB"/>
          </a:solidFill>
          <a:ln w="12700">
            <a:solidFill>
              <a:srgbClr val="ECE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5B4FC0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合理的金融問題不再被誤擋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更聰明、更像真人助理，守住研報專用定位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M4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5B4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Agentic 問答迴圈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5B4FC0"/>
                </a:solidFill>
                <a:latin typeface="Microsoft JhengHei"/>
                <a:ea typeface="Microsoft JhengHei"/>
                <a:cs typeface="Microsoft JhengHei"/>
              </a:rPr>
              <a:t>波次二 · 智能問答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模型自主決定查幾輪、要不要搜網，多輪檢索後作答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簡單問題走快速路徑不繞路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EFEDFB"/>
          </a:solidFill>
          <a:ln w="12700">
            <a:solidFill>
              <a:srgbClr val="ECE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5B4FC0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複雜問題答得更完整、深入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快速路徑護住聊天速度，差異化於一般 RAG 問答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M5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1F5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研報檢索增強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5FA6"/>
                </a:solidFill>
                <a:latin typeface="Microsoft JhengHei"/>
                <a:ea typeface="Microsoft JhengHei"/>
                <a:cs typeface="Microsoft JhengHei"/>
              </a:rPr>
              <a:t>波次三 · 研報深度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主題拆成多面向分別檢索（財報 / 產業 / 風險 / 估值）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多樣性選取避免重複片段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E9F1FA"/>
          </a:solidFill>
          <a:ln w="12700">
            <a:solidFill>
              <a:srgbClr val="E4EF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F5FA6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研報覆蓋面更全、更少漏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避免論點同質，是深度研報的品質基礎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M6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0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研報大綱逐節生成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E8E6E"/>
                </a:solidFill>
                <a:latin typeface="Microsoft JhengHei"/>
                <a:ea typeface="Microsoft JhengHei"/>
                <a:cs typeface="Microsoft JhengHei"/>
              </a:rPr>
              <a:t>波次三 · 研報深度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先產大綱、再逐節針對性檢索與撰寫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取代一次寫完整份長文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E7F5F0"/>
          </a:solidFill>
          <a:ln w="12700">
            <a:solidFill>
              <a:srgbClr val="E1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8E6E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內容更深、結構更完整、更少漏段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引用更精準，接近機構級研究報告的深度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M7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0E8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忠實度查核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E8E6E"/>
                </a:solidFill>
                <a:latin typeface="Microsoft JhengHei"/>
                <a:ea typeface="Microsoft JhengHei"/>
                <a:cs typeface="Microsoft JhengHei"/>
              </a:rPr>
              <a:t>波次三 · 研報深度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把生成內容拆成主張，逐條比對來源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特別標記數值，抓出無來源支撐的說法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E7F5F0"/>
          </a:solidFill>
          <a:ln w="12700">
            <a:solidFill>
              <a:srgbClr val="E1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8E6E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守住金融研報最致命的數字幻覺紅線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提高可信度與合規可辯護性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M8 /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C4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可選模板渲染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4552A"/>
                </a:solidFill>
                <a:latin typeface="Microsoft JhengHei"/>
                <a:ea typeface="Microsoft JhengHei"/>
                <a:cs typeface="Microsoft JhengHei"/>
              </a:rPr>
              <a:t>波次四 · 專業輸出 × 國際化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用 Typst 產出機構級版型 PDF，多款模板生成時可選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既有研報可零成本換模板重出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2700">
            <a:solidFill>
              <a:srgbClr val="FA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C4552A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研報外觀達投行等級，提升專業形象與對外價值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模板即品牌，天然支撐白牌商業化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M9 /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02920"/>
            <a:ext cx="1417320" cy="1051560"/>
          </a:xfrm>
          <a:prstGeom prst="roundRect">
            <a:avLst>
              <a:gd name="adj" fmla="val 14000"/>
            </a:avLst>
          </a:prstGeom>
          <a:solidFill>
            <a:srgbClr val="C45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4173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548640"/>
            <a:ext cx="94183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雙語 i18n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272" y="1225296"/>
            <a:ext cx="94183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4552A"/>
                </a:solidFill>
                <a:latin typeface="Microsoft JhengHei"/>
                <a:ea typeface="Microsoft JhengHei"/>
                <a:cs typeface="Microsoft JhengHei"/>
              </a:rPr>
              <a:t>波次四 · 專業輸出 × 國際化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128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這個任務在做什麼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48920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介面、問答、研報支援英文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英文查詢跨語言檢索中文語料，提供英文研報模板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76672" cy="4114800"/>
          </a:xfrm>
          <a:prstGeom prst="roundRect">
            <a:avLst>
              <a:gd name="adj" fmla="val 8000"/>
            </a:avLst>
          </a:prstGeom>
          <a:solidFill>
            <a:srgbClr val="FBEEE7"/>
          </a:solidFill>
          <a:ln w="12700">
            <a:solidFill>
              <a:srgbClr val="FA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1284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C4552A"/>
                </a:solidFill>
                <a:latin typeface="Microsoft JhengHei"/>
                <a:ea typeface="Microsoft JhengHei"/>
                <a:cs typeface="Microsoft JhengHei"/>
              </a:rPr>
              <a:t>帶來的效益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880360"/>
            <a:ext cx="4800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打開英文 / 外資使用者市場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55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同一份語料服務更多客群，鋪路雙語外資通道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35508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M10 / 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E1E38"/>
                </a:solidFill>
                <a:latin typeface="Microsoft JhengHei"/>
                <a:ea typeface="Microsoft JhengHei"/>
                <a:cs typeface="Microsoft JhengHei"/>
              </a:rPr>
              <a:t>效益總覽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十一項里程碑如何匯聚成三大價值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66160" cy="4160520"/>
          </a:xfrm>
          <a:prstGeom prst="roundRect">
            <a:avLst>
              <a:gd name="adj" fmla="val 6000"/>
            </a:avLst>
          </a:prstGeom>
          <a:solidFill>
            <a:srgbClr val="E9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1F5FA6"/>
                </a:solidFill>
                <a:latin typeface="Microsoft JhengHei"/>
                <a:ea typeface="Microsoft JhengHei"/>
                <a:cs typeface="Microsoft JhengHei"/>
              </a:rPr>
              <a:t>品質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更準 · 更深 · 更可信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30175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M2 重排 · M6 多面向檢索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M7 大綱逐節生成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M8 數值事實查核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M1 全程可量測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45920"/>
            <a:ext cx="3566160" cy="4160520"/>
          </a:xfrm>
          <a:prstGeom prst="roundRect">
            <a:avLst>
              <a:gd name="adj" fmla="val 6000"/>
            </a:avLst>
          </a:prstGeom>
          <a:solidFill>
            <a:srgbClr val="EF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5968" y="19659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5B4FC0"/>
                </a:solidFill>
                <a:latin typeface="Microsoft JhengHei"/>
                <a:ea typeface="Microsoft JhengHei"/>
                <a:cs typeface="Microsoft JhengHei"/>
              </a:rPr>
              <a:t>體驗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651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像 Claude 一樣好對話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3200400"/>
            <a:ext cx="30175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M3 重生成 / 停止 / 追問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M4 聰明的範圍分流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M5 自主多輪、快速路徑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45920"/>
            <a:ext cx="3566160" cy="4160520"/>
          </a:xfrm>
          <a:prstGeom prst="roundRect">
            <a:avLst>
              <a:gd name="adj" fmla="val 6000"/>
            </a:avLst>
          </a:prstGeom>
          <a:solidFill>
            <a:srgbClr val="FB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196596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C4552A"/>
                </a:solidFill>
                <a:latin typeface="Microsoft JhengHei"/>
                <a:ea typeface="Microsoft JhengHei"/>
                <a:cs typeface="Microsoft JhengHei"/>
              </a:rPr>
              <a:t>商業化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651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專業輸出 · 對外擴張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3336" y="3200400"/>
            <a:ext cx="301752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M9 機構級版型、白牌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M10 英文 / 外資市場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400" b="0" i="0">
                <a:solidFill>
                  <a:srgbClr val="1F2733"/>
                </a:solidFill>
                <a:latin typeface="Microsoft JhengHei"/>
                <a:ea typeface="Microsoft JhengHei"/>
                <a:cs typeface="Microsoft JhengHei"/>
              </a:rPr>
              <a:t>•  資料與能力可對外授權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5B6472"/>
                </a:solidFill>
                <a:latin typeface="Microsoft JhengHei"/>
                <a:ea typeface="Microsoft JhengHei"/>
                <a:cs typeface="Microsoft JhengHei"/>
              </a:rPr>
              <a:t>底層地基：M0 讓一切可維護、可測試；M1 讓每一步的增益都拿得出數據。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E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6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建議的起跑點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先跑 M0 + M1 + 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4203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地基 + 評測基準線 + Rerank：風險最低，能立刻用數據證明價值，同時惠及問答與研報。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5661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6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22191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fail-open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315968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AFC2E0"/>
                </a:solidFill>
                <a:latin typeface="Microsoft JhengHei"/>
                <a:ea typeface="Microsoft JhengHei"/>
                <a:cs typeface="Microsoft JhengHei"/>
              </a:rPr>
              <a:t>任何新步驟失敗都退回既有行為，不讓服務倒退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5661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6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822191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Markdown 為真相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315968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AFC2E0"/>
                </a:solidFill>
                <a:latin typeface="Microsoft JhengHei"/>
                <a:ea typeface="Microsoft JhengHei"/>
                <a:cs typeface="Microsoft JhengHei"/>
              </a:rPr>
              <a:t>PDF 與版型隨時可重建、可回退、可換皮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56616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63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822191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每步用 eval 驗證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315968"/>
            <a:ext cx="2971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AFC2E0"/>
                </a:solidFill>
                <a:latin typeface="Microsoft JhengHei"/>
                <a:ea typeface="Microsoft JhengHei"/>
                <a:cs typeface="Microsoft JhengHei"/>
              </a:rPr>
              <a:t>改 prompt / 檢索都先看數字，未回歸才前進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DB4D6"/>
                </a:solidFill>
                <a:latin typeface="Microsoft JhengHei"/>
                <a:ea typeface="Microsoft JhengHei"/>
                <a:cs typeface="Microsoft JhengHei"/>
              </a:rPr>
              <a:t>三份設計藍圖 + 實作計畫已就緒，可直接交付開發。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